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idnight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/>
          <p:nvPr/>
        </p:nvSpPr>
        <p:spPr>
          <a:xfrm>
            <a:off x="0" y="5400000"/>
            <a:ext cx="10078920" cy="268920"/>
          </a:xfrm>
          <a:prstGeom prst="rect">
            <a:avLst/>
          </a:prstGeom>
          <a:solidFill>
            <a:srgbClr val="2c3e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b="1" lang="es-AR" sz="14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" name=""/>
          <p:cNvSpPr/>
          <p:nvPr/>
        </p:nvSpPr>
        <p:spPr>
          <a:xfrm>
            <a:off x="0" y="0"/>
            <a:ext cx="10078920" cy="1213920"/>
          </a:xfrm>
          <a:prstGeom prst="rect">
            <a:avLst/>
          </a:prstGeom>
          <a:solidFill>
            <a:srgbClr val="2c3e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b="1" lang="es-AR" sz="14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" name=""/>
          <p:cNvSpPr/>
          <p:nvPr/>
        </p:nvSpPr>
        <p:spPr>
          <a:xfrm>
            <a:off x="9315000" y="5175000"/>
            <a:ext cx="448920" cy="448920"/>
          </a:xfrm>
          <a:prstGeom prst="ellipse">
            <a:avLst/>
          </a:prstGeom>
          <a:solidFill>
            <a:srgbClr val="1abc9c"/>
          </a:solidFill>
          <a:ln w="0">
            <a:solidFill>
              <a:srgbClr val="1abc9c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b="1" lang="es-AR" sz="14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8920" cy="71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Pulse para editar el formato del texto de título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360000" y="1485000"/>
            <a:ext cx="9358920" cy="37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b="1" lang="es-AR" sz="2400" strike="noStrike" u="none">
                <a:solidFill>
                  <a:srgbClr val="2c3e50"/>
                </a:solidFill>
                <a:effectLst/>
                <a:uFillTx/>
                <a:latin typeface="Noto Sans"/>
              </a:rPr>
              <a:t>Pulse para editar el formato de texto del esquema</a:t>
            </a:r>
            <a:endParaRPr b="0" lang="es-A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b="0" lang="es-AR" sz="2100" strike="noStrike" u="none">
                <a:solidFill>
                  <a:srgbClr val="2c3e50"/>
                </a:solidFill>
                <a:effectLst/>
                <a:uFillTx/>
                <a:latin typeface="Noto Sans"/>
              </a:rPr>
              <a:t>Segundo nivel del esquema</a:t>
            </a:r>
            <a:endParaRPr b="0" lang="es-AR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Aft>
                <a:spcPts val="635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b="0" lang="es-AR" sz="1800" strike="noStrike" u="none">
                <a:solidFill>
                  <a:srgbClr val="2c3e50"/>
                </a:solidFill>
                <a:effectLst/>
                <a:uFillTx/>
                <a:latin typeface="Noto Sans"/>
              </a:rPr>
              <a:t>Tercer nivel del esquema</a:t>
            </a:r>
            <a:endParaRPr b="0" lang="es-A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Aft>
                <a:spcPts val="425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b="0" lang="es-AR" sz="1500" strike="noStrike" u="none">
                <a:solidFill>
                  <a:srgbClr val="2c3e50"/>
                </a:solidFill>
                <a:effectLst/>
                <a:uFillTx/>
                <a:latin typeface="Noto Sans"/>
              </a:rPr>
              <a:t>Cuarto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Aft>
                <a:spcPts val="213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b="0" lang="es-AR" sz="1500" strike="noStrike" u="none">
                <a:solidFill>
                  <a:srgbClr val="2c3e50"/>
                </a:solidFill>
                <a:effectLst/>
                <a:uFillTx/>
                <a:latin typeface="Noto Sans"/>
              </a:rPr>
              <a:t>Quinto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Aft>
                <a:spcPts val="213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b="0" lang="es-AR" sz="1500" strike="noStrike" u="none">
                <a:solidFill>
                  <a:srgbClr val="2c3e50"/>
                </a:solidFill>
                <a:effectLst/>
                <a:uFillTx/>
                <a:latin typeface="Noto Sans"/>
              </a:rPr>
              <a:t>Sexto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Aft>
                <a:spcPts val="213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b="0" lang="es-AR" sz="1500" strike="noStrike" u="none">
                <a:solidFill>
                  <a:srgbClr val="2c3e50"/>
                </a:solidFill>
                <a:effectLst/>
                <a:uFillTx/>
                <a:latin typeface="Noto Sans"/>
              </a:rPr>
              <a:t>Séptimo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360000" y="5400000"/>
            <a:ext cx="287892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&lt;fecha/hora&gt;</a:t>
            </a:r>
            <a:endParaRPr b="0" lang="es-A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3420000" y="5400000"/>
            <a:ext cx="323892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&lt;pie de página&gt;</a:t>
            </a:r>
            <a:endParaRPr b="0" lang="es-A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9180000" y="5262480"/>
            <a:ext cx="718920" cy="27468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ctr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71C51C1C-A6D8-452C-A13B-28C40D05D570}" type="slidenum">
              <a: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&lt;número&gt;</a:t>
            </a:fld>
            <a:endParaRPr b="0" lang="es-A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idnightblu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/>
          <p:nvPr/>
        </p:nvSpPr>
        <p:spPr>
          <a:xfrm>
            <a:off x="0" y="0"/>
            <a:ext cx="10078920" cy="5668920"/>
          </a:xfrm>
          <a:prstGeom prst="rect">
            <a:avLst/>
          </a:prstGeom>
          <a:solidFill>
            <a:srgbClr val="2c3e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b="1" lang="es-AR" sz="14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9" name=""/>
          <p:cNvSpPr/>
          <p:nvPr/>
        </p:nvSpPr>
        <p:spPr>
          <a:xfrm>
            <a:off x="0" y="0"/>
            <a:ext cx="10078920" cy="3778920"/>
          </a:xfrm>
          <a:prstGeom prst="rect">
            <a:avLst/>
          </a:prstGeom>
          <a:solidFill>
            <a:srgbClr val="1abc9c"/>
          </a:solidFill>
          <a:ln w="0">
            <a:solidFill>
              <a:srgbClr val="1abc9c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b="1" lang="es-AR" sz="14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360000" y="2835000"/>
            <a:ext cx="9358920" cy="71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Pulse para editar el formato del texto de título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360000" y="3915000"/>
            <a:ext cx="9358920" cy="148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0">
              <a:lnSpc>
                <a:spcPct val="100000"/>
              </a:lnSpc>
              <a:spcAft>
                <a:spcPts val="655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Pulse para editar el formato de texto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Segundo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indent="0">
              <a:lnSpc>
                <a:spcPct val="100000"/>
              </a:lnSpc>
              <a:spcAft>
                <a:spcPts val="635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Tercer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indent="0">
              <a:lnSpc>
                <a:spcPct val="100000"/>
              </a:lnSpc>
              <a:spcAft>
                <a:spcPts val="425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Cuarto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indent="0">
              <a:lnSpc>
                <a:spcPct val="100000"/>
              </a:lnSpc>
              <a:spcAft>
                <a:spcPts val="213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Quinto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indent="0">
              <a:lnSpc>
                <a:spcPct val="100000"/>
              </a:lnSpc>
              <a:spcAft>
                <a:spcPts val="213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Sexto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indent="0">
              <a:lnSpc>
                <a:spcPct val="100000"/>
              </a:lnSpc>
              <a:spcAft>
                <a:spcPts val="213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Séptimo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4"/>
          </p:nvPr>
        </p:nvSpPr>
        <p:spPr>
          <a:xfrm>
            <a:off x="360000" y="5400000"/>
            <a:ext cx="287892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&lt;fecha/hora&gt;</a:t>
            </a:r>
            <a:endParaRPr b="0" lang="es-A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5"/>
          </p:nvPr>
        </p:nvSpPr>
        <p:spPr>
          <a:xfrm>
            <a:off x="3420000" y="5400000"/>
            <a:ext cx="323892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&lt;pie de página&gt;</a:t>
            </a:r>
            <a:endParaRPr b="0" lang="es-A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6"/>
          </p:nvPr>
        </p:nvSpPr>
        <p:spPr>
          <a:xfrm>
            <a:off x="9180000" y="5262480"/>
            <a:ext cx="718920" cy="27468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ctr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3F01041-21AF-4E4A-BC34-90B19A127DF7}" type="slidenum">
              <a: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&lt;número&gt;</a:t>
            </a:fld>
            <a:endParaRPr b="0" lang="es-A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/>
          <p:nvPr/>
        </p:nvSpPr>
        <p:spPr>
          <a:xfrm>
            <a:off x="0" y="0"/>
            <a:ext cx="10078920" cy="5668920"/>
          </a:xfrm>
          <a:prstGeom prst="rect">
            <a:avLst/>
          </a:prstGeom>
          <a:solidFill>
            <a:srgbClr val="2c3e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b="1" lang="es-AR" sz="14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6" name=""/>
          <p:cNvSpPr/>
          <p:nvPr/>
        </p:nvSpPr>
        <p:spPr>
          <a:xfrm>
            <a:off x="0" y="0"/>
            <a:ext cx="10078920" cy="3778920"/>
          </a:xfrm>
          <a:prstGeom prst="rect">
            <a:avLst/>
          </a:prstGeom>
          <a:solidFill>
            <a:srgbClr val="1abc9c"/>
          </a:solidFill>
          <a:ln w="0">
            <a:solidFill>
              <a:srgbClr val="1abc9c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b="1" lang="es-AR" sz="14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360000" y="2835000"/>
            <a:ext cx="9358920" cy="71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Pulse para editar el formato del texto de título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60000" y="3915000"/>
            <a:ext cx="9358920" cy="148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0">
              <a:lnSpc>
                <a:spcPct val="100000"/>
              </a:lnSpc>
              <a:spcAft>
                <a:spcPts val="655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Pulse para editar el formato de texto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Segundo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indent="0">
              <a:lnSpc>
                <a:spcPct val="100000"/>
              </a:lnSpc>
              <a:spcAft>
                <a:spcPts val="635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Tercer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indent="0">
              <a:lnSpc>
                <a:spcPct val="100000"/>
              </a:lnSpc>
              <a:spcAft>
                <a:spcPts val="425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Cuarto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indent="0">
              <a:lnSpc>
                <a:spcPct val="100000"/>
              </a:lnSpc>
              <a:spcAft>
                <a:spcPts val="213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Quinto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indent="0">
              <a:lnSpc>
                <a:spcPct val="100000"/>
              </a:lnSpc>
              <a:spcAft>
                <a:spcPts val="213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Sexto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indent="0">
              <a:lnSpc>
                <a:spcPct val="100000"/>
              </a:lnSpc>
              <a:spcAft>
                <a:spcPts val="213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Séptimo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7"/>
          </p:nvPr>
        </p:nvSpPr>
        <p:spPr>
          <a:xfrm>
            <a:off x="360000" y="5400000"/>
            <a:ext cx="287892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&lt;fecha/hora&gt;</a:t>
            </a:r>
            <a:endParaRPr b="0" lang="es-A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8"/>
          </p:nvPr>
        </p:nvSpPr>
        <p:spPr>
          <a:xfrm>
            <a:off x="3420000" y="5400000"/>
            <a:ext cx="323892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&lt;pie de página&gt;</a:t>
            </a:r>
            <a:endParaRPr b="0" lang="es-A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9"/>
          </p:nvPr>
        </p:nvSpPr>
        <p:spPr>
          <a:xfrm>
            <a:off x="9180000" y="5262480"/>
            <a:ext cx="718920" cy="27468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ctr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D120AFA-9D7C-4A74-842B-E318F26CBB9B}" type="slidenum">
              <a: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&lt;número&gt;</a:t>
            </a:fld>
            <a:endParaRPr b="0" lang="es-A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idnightblu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"/>
          <p:cNvSpPr/>
          <p:nvPr/>
        </p:nvSpPr>
        <p:spPr>
          <a:xfrm>
            <a:off x="0" y="0"/>
            <a:ext cx="10078920" cy="5668920"/>
          </a:xfrm>
          <a:prstGeom prst="rect">
            <a:avLst/>
          </a:prstGeom>
          <a:solidFill>
            <a:srgbClr val="2c3e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b="1" lang="es-AR" sz="1400" strike="noStrike" u="non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3" name=""/>
          <p:cNvSpPr/>
          <p:nvPr/>
        </p:nvSpPr>
        <p:spPr>
          <a:xfrm>
            <a:off x="2520000" y="1350000"/>
            <a:ext cx="5038920" cy="1888920"/>
          </a:xfrm>
          <a:prstGeom prst="wedgeRectCallout">
            <a:avLst>
              <a:gd name="adj1" fmla="val -34032"/>
              <a:gd name="adj2" fmla="val 132916"/>
            </a:avLst>
          </a:prstGeom>
          <a:solidFill>
            <a:srgbClr val="ffffff"/>
          </a:solidFill>
          <a:ln w="720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120600" rIns="120600" tIns="75600" bIns="75600" anchor="ctr">
            <a:noAutofit/>
          </a:bodyPr>
          <a:p>
            <a:pPr>
              <a:lnSpc>
                <a:spcPct val="100000"/>
              </a:lnSpc>
            </a:pPr>
            <a:endParaRPr b="1" lang="es-AR" sz="1400" strike="noStrike" u="none">
              <a:solidFill>
                <a:srgbClr val="2c3e5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2700000" y="1485000"/>
            <a:ext cx="4678920" cy="16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2700" strike="noStrike" u="none">
                <a:solidFill>
                  <a:srgbClr val="2c3e50"/>
                </a:solidFill>
                <a:effectLst/>
                <a:uFillTx/>
                <a:latin typeface="Noto Sans"/>
              </a:rPr>
              <a:t>Pulse para editar el formato del texto de título</a:t>
            </a:r>
            <a:endParaRPr b="0" lang="es-AR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3420000" y="3240000"/>
            <a:ext cx="6298920" cy="16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0">
              <a:lnSpc>
                <a:spcPct val="100000"/>
              </a:lnSpc>
              <a:spcAft>
                <a:spcPts val="655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Pulse para editar el formato de texto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Segundo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indent="0">
              <a:lnSpc>
                <a:spcPct val="100000"/>
              </a:lnSpc>
              <a:spcAft>
                <a:spcPts val="635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Tercer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indent="0">
              <a:lnSpc>
                <a:spcPct val="100000"/>
              </a:lnSpc>
              <a:spcAft>
                <a:spcPts val="425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Cuarto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indent="0">
              <a:lnSpc>
                <a:spcPct val="100000"/>
              </a:lnSpc>
              <a:spcAft>
                <a:spcPts val="213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Quinto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indent="0">
              <a:lnSpc>
                <a:spcPct val="100000"/>
              </a:lnSpc>
              <a:spcAft>
                <a:spcPts val="213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Sexto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indent="0">
              <a:lnSpc>
                <a:spcPct val="100000"/>
              </a:lnSpc>
              <a:spcAft>
                <a:spcPts val="213"/>
              </a:spcAft>
              <a:buNone/>
              <a:tabLst>
                <a:tab algn="l" pos="0"/>
              </a:tabLst>
            </a:pPr>
            <a:r>
              <a:rPr b="0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Séptimo nivel del esquema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0"/>
          </p:nvPr>
        </p:nvSpPr>
        <p:spPr>
          <a:xfrm>
            <a:off x="360000" y="5400000"/>
            <a:ext cx="287892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&lt;fecha/hora&gt;</a:t>
            </a:r>
            <a:endParaRPr b="0" lang="es-A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1"/>
          </p:nvPr>
        </p:nvSpPr>
        <p:spPr>
          <a:xfrm>
            <a:off x="3420000" y="5400000"/>
            <a:ext cx="323892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&lt;pie de página&gt;</a:t>
            </a:r>
            <a:endParaRPr b="0" lang="es-A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12"/>
          </p:nvPr>
        </p:nvSpPr>
        <p:spPr>
          <a:xfrm>
            <a:off x="9180000" y="5262480"/>
            <a:ext cx="718920" cy="27468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ctr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816DCCE-772A-4A83-BAD1-CC44E73DF19E}" type="slidenum">
              <a:rPr b="1" lang="es-AR" sz="18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&lt;número&gt;</a:t>
            </a:fld>
            <a:endParaRPr b="0" lang="es-A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80720" y="1080000"/>
            <a:ext cx="935892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Data Analytics-Devligth 2025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180720" y="181800"/>
            <a:ext cx="9358920" cy="71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rPr>
              <a:t>Análisis Base De Datos Olist Brasil Ecommerce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ubTitle"/>
          </p:nvPr>
        </p:nvSpPr>
        <p:spPr>
          <a:xfrm>
            <a:off x="315000" y="3059640"/>
            <a:ext cx="9358920" cy="2580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AR" sz="13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 Mierez Suarez Matias. </a:t>
            </a:r>
            <a:endParaRPr b="0" lang="es-A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AR" sz="13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Espinoza Enrique Manuel</a:t>
            </a:r>
            <a:endParaRPr b="0" lang="es-A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AR" sz="13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Favaron Juan Cruz</a:t>
            </a:r>
            <a:endParaRPr b="0" lang="es-A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AR" sz="13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 Velázquez Yeny Elisa.</a:t>
            </a:r>
            <a:endParaRPr b="0" lang="es-A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AR" sz="13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Vargas Portillo Jonatan </a:t>
            </a:r>
            <a:endParaRPr b="0" lang="es-A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35892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Introducción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360000" y="3915000"/>
            <a:ext cx="9358920" cy="148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s-AR" sz="14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 Olist Dataset (Kaggle):https://www.kaggle.com/datasets/olistbr/brazilian-ecommerce/ </a:t>
            </a:r>
            <a:endParaRPr b="0" lang="es-A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360000" y="950040"/>
            <a:ext cx="9358920" cy="13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rPr>
              <a:t>Este repositorio contiene el desarrollo completo de un </a:t>
            </a:r>
            <a:r>
              <a:rPr b="1" lang="es-AR" sz="1500" strike="noStrike" u="none">
                <a:solidFill>
                  <a:srgbClr val="ff0000"/>
                </a:solidFill>
                <a:effectLst/>
                <a:uFillTx/>
                <a:latin typeface="Noto Sans"/>
                <a:ea typeface="DejaVu Sans"/>
              </a:rPr>
              <a:t>Data Warehouse</a:t>
            </a:r>
            <a:r>
              <a:rPr b="1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rPr>
              <a:t> construido a partir del conjunto de datos público de</a:t>
            </a:r>
            <a:r>
              <a:rPr b="1" lang="es-AR" sz="1500" strike="noStrike" u="none">
                <a:solidFill>
                  <a:srgbClr val="ff0000"/>
                </a:solidFill>
                <a:effectLst/>
                <a:uFillTx/>
                <a:latin typeface="Noto Sans"/>
                <a:ea typeface="DejaVu Sans"/>
              </a:rPr>
              <a:t> comercio electrónico</a:t>
            </a:r>
            <a:r>
              <a:rPr b="1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rPr>
              <a:t> de Brasil publicado por</a:t>
            </a:r>
            <a:r>
              <a:rPr b="1" i="1" lang="es-AR" sz="1500" strike="noStrike" u="none">
                <a:solidFill>
                  <a:srgbClr val="ff0000"/>
                </a:solidFill>
                <a:effectLst/>
                <a:uFillTx/>
                <a:latin typeface="Noto Sans"/>
                <a:ea typeface="DejaVu Sans"/>
              </a:rPr>
              <a:t> Olist Store</a:t>
            </a:r>
            <a:r>
              <a:rPr b="1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rPr>
              <a:t> en</a:t>
            </a:r>
            <a:r>
              <a:rPr b="1" lang="es-AR" sz="1500" strike="noStrike" u="none">
                <a:solidFill>
                  <a:srgbClr val="ff0000"/>
                </a:solidFill>
                <a:effectLst/>
                <a:uFillTx/>
                <a:latin typeface="Noto Sans"/>
                <a:ea typeface="DejaVu Sans"/>
              </a:rPr>
              <a:t> Kaggle</a:t>
            </a:r>
            <a:r>
              <a:rPr b="1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rPr>
              <a:t>.El proyecto adopta la </a:t>
            </a:r>
            <a:r>
              <a:rPr b="1" lang="es-AR" sz="1500" strike="noStrike" u="none">
                <a:solidFill>
                  <a:srgbClr val="ff0000"/>
                </a:solidFill>
                <a:effectLst/>
                <a:uFillTx/>
                <a:latin typeface="Noto Sans"/>
                <a:ea typeface="DejaVu Sans"/>
              </a:rPr>
              <a:t> arquitectura Medallón (Bronce → Plata → Oro)</a:t>
            </a:r>
            <a:r>
              <a:rPr b="1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rPr>
              <a:t> e implementa procesos </a:t>
            </a:r>
            <a:r>
              <a:rPr b="1" lang="es-AR" sz="1500" strike="noStrike" u="none">
                <a:solidFill>
                  <a:srgbClr val="ff0000"/>
                </a:solidFill>
                <a:effectLst/>
                <a:uFillTx/>
                <a:latin typeface="Noto Sans"/>
                <a:ea typeface="DejaVu Sans"/>
              </a:rPr>
              <a:t>ETL</a:t>
            </a:r>
            <a:r>
              <a:rPr b="1" lang="es-AR" sz="1500" strike="noStrike" u="non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rPr>
              <a:t> para limpieza, normalización, modelado dimensional y análisis final.</a:t>
            </a:r>
            <a:endParaRPr b="0" lang="es-A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A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80720" y="130680"/>
            <a:ext cx="935892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Esquema De Capas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" name="" descr=""/>
          <p:cNvPicPr/>
          <p:nvPr/>
        </p:nvPicPr>
        <p:blipFill>
          <a:blip r:embed="rId1"/>
          <a:stretch/>
        </p:blipFill>
        <p:spPr>
          <a:xfrm>
            <a:off x="0" y="759960"/>
            <a:ext cx="10080360" cy="4819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35892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Modelo Inicial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" name="" descr=""/>
          <p:cNvPicPr/>
          <p:nvPr/>
        </p:nvPicPr>
        <p:blipFill>
          <a:blip r:embed="rId1"/>
          <a:stretch/>
        </p:blipFill>
        <p:spPr>
          <a:xfrm>
            <a:off x="0" y="900000"/>
            <a:ext cx="10078920" cy="4498560"/>
          </a:xfrm>
          <a:prstGeom prst="rect">
            <a:avLst/>
          </a:prstGeom>
          <a:noFill/>
          <a:ln w="108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540000" y="358920"/>
            <a:ext cx="935892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Capa De Bronce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" name="" descr=""/>
          <p:cNvPicPr/>
          <p:nvPr/>
        </p:nvPicPr>
        <p:blipFill>
          <a:blip r:embed="rId1"/>
          <a:stretch/>
        </p:blipFill>
        <p:spPr>
          <a:xfrm>
            <a:off x="1440000" y="900360"/>
            <a:ext cx="7558920" cy="4498560"/>
          </a:xfrm>
          <a:prstGeom prst="rect">
            <a:avLst/>
          </a:prstGeom>
          <a:noFill/>
          <a:ln w="108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80000" y="180000"/>
            <a:ext cx="935892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Capa Plata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540000" y="900000"/>
            <a:ext cx="8998920" cy="4498560"/>
          </a:xfrm>
          <a:prstGeom prst="rect">
            <a:avLst/>
          </a:prstGeom>
          <a:noFill/>
          <a:ln w="108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5892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Ejemplo De Limpieza En La Capa De Plata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540000" y="900000"/>
            <a:ext cx="9180000" cy="468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180000" y="358920"/>
            <a:ext cx="935892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Capa De Oro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180000" y="1078920"/>
            <a:ext cx="9718920" cy="4319640"/>
          </a:xfrm>
          <a:prstGeom prst="rect">
            <a:avLst/>
          </a:prstGeom>
          <a:noFill/>
          <a:ln w="108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60000" y="360000"/>
            <a:ext cx="935892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Modelo Estrella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" name="" descr=""/>
          <p:cNvPicPr/>
          <p:nvPr/>
        </p:nvPicPr>
        <p:blipFill>
          <a:blip r:embed="rId1"/>
          <a:stretch/>
        </p:blipFill>
        <p:spPr>
          <a:xfrm>
            <a:off x="1260000" y="1080360"/>
            <a:ext cx="7918920" cy="4318560"/>
          </a:xfrm>
          <a:prstGeom prst="rect">
            <a:avLst/>
          </a:prstGeom>
          <a:noFill/>
          <a:ln w="108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935892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Preguntas Planteadas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360000" y="3915000"/>
            <a:ext cx="9358920" cy="148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A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360000" y="1065960"/>
            <a:ext cx="9358920" cy="11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 anchorCtr="1">
            <a:spAutoFit/>
          </a:bodyPr>
          <a:p>
            <a:pPr algn="ctr">
              <a:lnSpc>
                <a:spcPct val="100000"/>
              </a:lnSpc>
            </a:pPr>
            <a:endParaRPr b="0" lang="es-AR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" name=""/>
          <p:cNvSpPr/>
          <p:nvPr/>
        </p:nvSpPr>
        <p:spPr>
          <a:xfrm>
            <a:off x="360000" y="1131120"/>
            <a:ext cx="9358920" cy="97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rPr>
              <a:t>1. ¿Cómo fue la evolución de las ventas a través del tiempo?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935892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Análisis Para La Pregunta 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720000" y="900000"/>
            <a:ext cx="8818920" cy="4498560"/>
          </a:xfrm>
          <a:prstGeom prst="rect">
            <a:avLst/>
          </a:prstGeom>
          <a:noFill/>
          <a:ln w="108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360000" y="0"/>
            <a:ext cx="935892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Análisis Para La Pregunta 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" descr=""/>
          <p:cNvPicPr/>
          <p:nvPr/>
        </p:nvPicPr>
        <p:blipFill>
          <a:blip r:embed="rId1"/>
          <a:stretch/>
        </p:blipFill>
        <p:spPr>
          <a:xfrm>
            <a:off x="360000" y="720000"/>
            <a:ext cx="9178920" cy="467856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57" name=""/>
          <p:cNvSpPr/>
          <p:nvPr/>
        </p:nvSpPr>
        <p:spPr>
          <a:xfrm>
            <a:off x="6660000" y="4320000"/>
            <a:ext cx="178920" cy="898920"/>
          </a:xfrm>
          <a:prstGeom prst="rect">
            <a:avLst/>
          </a:prstGeom>
          <a:noFill/>
          <a:ln w="108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s-AR" sz="1800" strike="noStrike" u="none">
              <a:solidFill>
                <a:srgbClr val="2c3e50"/>
              </a:solidFill>
              <a:effectLst/>
              <a:uFillTx/>
              <a:latin typeface="Noto Sans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60000" y="2833920"/>
            <a:ext cx="935892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buNone/>
            </a:pPr>
            <a:endParaRPr b="0" lang="es-A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360000" y="3915000"/>
            <a:ext cx="9358920" cy="148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A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" name="" descr=""/>
          <p:cNvPicPr/>
          <p:nvPr/>
        </p:nvPicPr>
        <p:blipFill>
          <a:blip r:embed="rId1"/>
          <a:stretch/>
        </p:blipFill>
        <p:spPr>
          <a:xfrm>
            <a:off x="360" y="814320"/>
            <a:ext cx="10078560" cy="296460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61" name=""/>
          <p:cNvSpPr/>
          <p:nvPr/>
        </p:nvSpPr>
        <p:spPr>
          <a:xfrm>
            <a:off x="360" y="3420000"/>
            <a:ext cx="1798560" cy="358920"/>
          </a:xfrm>
          <a:prstGeom prst="rect">
            <a:avLst/>
          </a:prstGeom>
          <a:noFill/>
          <a:ln w="3600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102600" rIns="102600" tIns="57600" bIns="57600" anchor="ctr">
            <a:noAutofit/>
          </a:bodyPr>
          <a:p>
            <a:pPr algn="ctr">
              <a:lnSpc>
                <a:spcPct val="100000"/>
              </a:lnSpc>
            </a:pPr>
            <a:endParaRPr b="0" lang="es-AR" sz="1800" strike="noStrike" u="none">
              <a:solidFill>
                <a:srgbClr val="2c3e5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62" name=""/>
          <p:cNvSpPr/>
          <p:nvPr/>
        </p:nvSpPr>
        <p:spPr>
          <a:xfrm>
            <a:off x="360000" y="-126720"/>
            <a:ext cx="935892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rPr>
              <a:t>Análisis Para La Pregunta 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5892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Análisis Para La Pregunta 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" name="" descr=""/>
          <p:cNvPicPr/>
          <p:nvPr/>
        </p:nvPicPr>
        <p:blipFill>
          <a:blip r:embed="rId1"/>
          <a:stretch/>
        </p:blipFill>
        <p:spPr>
          <a:xfrm>
            <a:off x="1260000" y="900000"/>
            <a:ext cx="7558920" cy="4498560"/>
          </a:xfrm>
          <a:prstGeom prst="rect">
            <a:avLst/>
          </a:prstGeom>
          <a:noFill/>
          <a:ln w="108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360000" y="360000"/>
            <a:ext cx="935892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-AR" sz="3200" strike="noStrike" u="none">
                <a:solidFill>
                  <a:srgbClr val="ffffff"/>
                </a:solidFill>
                <a:effectLst/>
                <a:uFillTx/>
                <a:latin typeface="Noto Sans"/>
              </a:rPr>
              <a:t>Análisis Para La Pregunta </a:t>
            </a:r>
            <a:endParaRPr b="0" lang="es-A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" descr=""/>
          <p:cNvPicPr/>
          <p:nvPr/>
        </p:nvPicPr>
        <p:blipFill>
          <a:blip r:embed="rId1"/>
          <a:stretch/>
        </p:blipFill>
        <p:spPr>
          <a:xfrm>
            <a:off x="720000" y="1080000"/>
            <a:ext cx="8818920" cy="4498920"/>
          </a:xfrm>
          <a:prstGeom prst="rect">
            <a:avLst/>
          </a:prstGeom>
          <a:noFill/>
          <a:ln w="108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8920" cy="7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A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Conclusiones</a:t>
            </a:r>
            <a:endParaRPr b="0" lang="es-A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360000" y="1485000"/>
            <a:ext cx="9358920" cy="37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A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Usando la información obtenida mediante el análisis de las ventas a través de los años, meses y días podemos notar que el aumento de ventas puede explicarse como un resultado de la baja inflación que se experimentó entre 2017-2018 en Brasil. Se alcanza un pico el 24-11-2017 que coincide con la fecha del Black Friday. A partir de Diciembre de 2017 y hasta Marzo de 2018 se puede ver, con altibajos, que hay consumo aceptable todavía. Esto podemos explicarlo por la situación estacional de fiestas y vacaciones. Sin embargo, a partir de Marzo de 2018 se empieza a observar una meseta en las ventas y una posterior caída. Un factor para esto, aunque no necesariamente el único, se debe al aumento de inflación que se pronuncia entre Mayo y Julio de 2018 (teniendo valores alto también en Septiembre y Octubre de ese mismo año). </a:t>
            </a:r>
            <a:r>
              <a:rPr b="1" i="1" lang="es-A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Por lo tanto, una sugerencia es revisar las categorías y productos más vendidos dentro de esa fecha e informar que mantenga stock de esos productos. Esto es así porque, a pesar de la inflación y bajas ventas, la gente ha mostrado estar dispuesta a gastar en esos productos</a:t>
            </a:r>
            <a:r>
              <a:rPr b="0" lang="es-A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b="0" lang="es-A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6F83766-544A-4C06-B1D8-AEA298BC42D2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2700000" y="1440000"/>
            <a:ext cx="4678920" cy="16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A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GRACIAS POR SU ATENCIÓN</a:t>
            </a:r>
            <a:endParaRPr b="0" lang="es-A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FB63561-F0D3-44AC-A222-D0830122ABC5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</TotalTime>
  <Application>LibreOffice/25.2.7.2$Windows_X86_64 LibreOffice_project/5cbfd1ab6520636bb5f7b99185aa69bd7456825d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2025-12-18T18:35:46Z</dcterms:created>
  <dc:creator/>
  <dc:description>This work is licensed under a Creative Commons 0 License.
It makes use of the works of Jun NOGATA.</dc:description>
  <dc:language>es-AR</dc:language>
  <cp:lastModifiedBy/>
  <dcterms:modified xsi:type="dcterms:W3CDTF">2025-12-19T12:17:22Z</dcterms:modified>
  <cp:revision>11</cp:revision>
  <dc:subject/>
  <dc:title>Midnightblue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