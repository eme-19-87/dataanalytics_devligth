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5400000"/>
            <a:ext cx="10079280" cy="26928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" name=""/>
          <p:cNvSpPr/>
          <p:nvPr/>
        </p:nvSpPr>
        <p:spPr>
          <a:xfrm>
            <a:off x="0" y="0"/>
            <a:ext cx="10079280" cy="121428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" name=""/>
          <p:cNvSpPr/>
          <p:nvPr/>
        </p:nvSpPr>
        <p:spPr>
          <a:xfrm>
            <a:off x="9315000" y="5175000"/>
            <a:ext cx="449280" cy="44928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es-AR" sz="24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AR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s-AR" sz="21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Segundo nivel del esquema</a:t>
            </a:r>
            <a:endParaRPr b="0" lang="es-AR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s-AR" sz="18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Tercer nivel del esquema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5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es-AR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Cuarto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s-AR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Quinto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s-AR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Sexto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3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0" lang="es-AR" sz="15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Séptimo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dt" idx="1"/>
          </p:nvPr>
        </p:nvSpPr>
        <p:spPr>
          <a:xfrm>
            <a:off x="360000" y="5400000"/>
            <a:ext cx="287928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&lt;fecha/hora&gt;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ftr" idx="2"/>
          </p:nvPr>
        </p:nvSpPr>
        <p:spPr>
          <a:xfrm>
            <a:off x="3420000" y="5400000"/>
            <a:ext cx="323928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&lt;pie de página&gt;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sldNum" idx="3"/>
          </p:nvPr>
        </p:nvSpPr>
        <p:spPr>
          <a:xfrm>
            <a:off x="9180000" y="5262480"/>
            <a:ext cx="71928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B81B812-C3C7-4B0D-AAE8-8DD09698F9B6}" type="slidenum"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&lt;número&gt;</a:t>
            </a:fld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idnightblu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0079280" cy="377928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59280" cy="14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0">
              <a:lnSpc>
                <a:spcPct val="100000"/>
              </a:lnSpc>
              <a:spcAft>
                <a:spcPts val="65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Segundo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100000"/>
              </a:lnSpc>
              <a:spcAft>
                <a:spcPts val="63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Tercer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indent="0">
              <a:lnSpc>
                <a:spcPct val="100000"/>
              </a:lnSpc>
              <a:spcAft>
                <a:spcPts val="42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Cuarto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Quinto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Sexto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Séptimo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4"/>
          </p:nvPr>
        </p:nvSpPr>
        <p:spPr>
          <a:xfrm>
            <a:off x="360000" y="5400000"/>
            <a:ext cx="287928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&lt;fecha/hora&gt;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5"/>
          </p:nvPr>
        </p:nvSpPr>
        <p:spPr>
          <a:xfrm>
            <a:off x="3420000" y="5400000"/>
            <a:ext cx="323928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&lt;pie de página&gt;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6"/>
          </p:nvPr>
        </p:nvSpPr>
        <p:spPr>
          <a:xfrm>
            <a:off x="9180000" y="5262480"/>
            <a:ext cx="71928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B1790F6-55ED-48EB-BFA6-0D26D7DA3632}" type="slidenum"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&lt;número&gt;</a:t>
            </a:fld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6" name=""/>
          <p:cNvSpPr/>
          <p:nvPr/>
        </p:nvSpPr>
        <p:spPr>
          <a:xfrm>
            <a:off x="0" y="0"/>
            <a:ext cx="10079280" cy="3779280"/>
          </a:xfrm>
          <a:prstGeom prst="rect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60000" y="2835000"/>
            <a:ext cx="9359280" cy="718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60000" y="3915000"/>
            <a:ext cx="9359280" cy="14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0">
              <a:lnSpc>
                <a:spcPct val="100000"/>
              </a:lnSpc>
              <a:spcAft>
                <a:spcPts val="65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Segundo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100000"/>
              </a:lnSpc>
              <a:spcAft>
                <a:spcPts val="63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Tercer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indent="0">
              <a:lnSpc>
                <a:spcPct val="100000"/>
              </a:lnSpc>
              <a:spcAft>
                <a:spcPts val="42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Cuarto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Quinto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Sexto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Séptimo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7"/>
          </p:nvPr>
        </p:nvSpPr>
        <p:spPr>
          <a:xfrm>
            <a:off x="360000" y="5400000"/>
            <a:ext cx="287928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&lt;fecha/hora&gt;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8"/>
          </p:nvPr>
        </p:nvSpPr>
        <p:spPr>
          <a:xfrm>
            <a:off x="3420000" y="5400000"/>
            <a:ext cx="323928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&lt;pie de página&gt;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9"/>
          </p:nvPr>
        </p:nvSpPr>
        <p:spPr>
          <a:xfrm>
            <a:off x="9180000" y="5262480"/>
            <a:ext cx="71928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6DA3AC9-E843-4936-88E0-84B09C0C3DBB}" type="slidenum"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&lt;número&gt;</a:t>
            </a:fld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Midnightblu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"/>
          <p:cNvSpPr/>
          <p:nvPr/>
        </p:nvSpPr>
        <p:spPr>
          <a:xfrm>
            <a:off x="0" y="0"/>
            <a:ext cx="10079280" cy="5669280"/>
          </a:xfrm>
          <a:prstGeom prst="rect">
            <a:avLst/>
          </a:prstGeom>
          <a:solidFill>
            <a:srgbClr val="2c3e5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3" name=""/>
          <p:cNvSpPr/>
          <p:nvPr/>
        </p:nvSpPr>
        <p:spPr>
          <a:xfrm>
            <a:off x="2520000" y="1350000"/>
            <a:ext cx="5039280" cy="1889280"/>
          </a:xfrm>
          <a:prstGeom prst="wedgeRectCallout">
            <a:avLst>
              <a:gd name="adj1" fmla="val -34032"/>
              <a:gd name="adj2" fmla="val 132916"/>
            </a:avLst>
          </a:prstGeom>
          <a:solidFill>
            <a:srgbClr val="ffffff"/>
          </a:solidFill>
          <a:ln w="720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20600" rIns="120600" tIns="75600" bIns="75600" anchor="ctr">
            <a:noAutofit/>
          </a:bodyPr>
          <a:p>
            <a:pPr>
              <a:lnSpc>
                <a:spcPct val="100000"/>
              </a:lnSpc>
            </a:pPr>
            <a:endParaRPr b="1" lang="es-AR" sz="1400" strike="noStrike" u="none">
              <a:solidFill>
                <a:srgbClr val="2c3e5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700000" y="1485000"/>
            <a:ext cx="4679280" cy="16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2700" strike="noStrike" u="none">
                <a:solidFill>
                  <a:srgbClr val="2c3e50"/>
                </a:solidFill>
                <a:effectLst/>
                <a:uFillTx/>
                <a:latin typeface="Noto Sans"/>
              </a:rPr>
              <a:t>Pulse para editar el formato del texto de título</a:t>
            </a:r>
            <a:endParaRPr b="0" lang="es-A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420000" y="3240000"/>
            <a:ext cx="6299280" cy="16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19999"/>
          </a:bodyPr>
          <a:p>
            <a:pPr marL="432000" indent="0">
              <a:lnSpc>
                <a:spcPct val="100000"/>
              </a:lnSpc>
              <a:spcAft>
                <a:spcPts val="65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Pulse para editar el formato de texto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indent="0">
              <a:lnSpc>
                <a:spcPct val="100000"/>
              </a:lnSpc>
              <a:spcAft>
                <a:spcPts val="850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Segundo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indent="0">
              <a:lnSpc>
                <a:spcPct val="100000"/>
              </a:lnSpc>
              <a:spcAft>
                <a:spcPts val="63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Tercer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indent="0">
              <a:lnSpc>
                <a:spcPct val="100000"/>
              </a:lnSpc>
              <a:spcAft>
                <a:spcPts val="425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Cuarto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Quinto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Sexto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indent="0">
              <a:lnSpc>
                <a:spcPct val="100000"/>
              </a:lnSpc>
              <a:spcAft>
                <a:spcPts val="213"/>
              </a:spcAft>
              <a:buNone/>
              <a:tabLst>
                <a:tab algn="l" pos="0"/>
              </a:tabLst>
            </a:pPr>
            <a:r>
              <a:rPr b="0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Séptimo nivel del esquema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0"/>
          </p:nvPr>
        </p:nvSpPr>
        <p:spPr>
          <a:xfrm>
            <a:off x="360000" y="5400000"/>
            <a:ext cx="287928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&lt;fecha/hora&gt;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1"/>
          </p:nvPr>
        </p:nvSpPr>
        <p:spPr>
          <a:xfrm>
            <a:off x="3420000" y="5400000"/>
            <a:ext cx="3239280" cy="31140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&lt;pie de página&gt;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2"/>
          </p:nvPr>
        </p:nvSpPr>
        <p:spPr>
          <a:xfrm>
            <a:off x="9180000" y="5262480"/>
            <a:ext cx="719280" cy="27468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7D0E134-C7C8-47B4-B62D-E49B678CA0A2}" type="slidenum">
              <a:rPr b="1" lang="es-AR" sz="18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&lt;número&gt;</a:t>
            </a:fld>
            <a:endParaRPr b="0" lang="es-AR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80720" y="1080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Data Analytics-Devligth 2025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180720" y="181800"/>
            <a:ext cx="9359280" cy="71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Análisis Base De Datos Olist Brasil Ecommerce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315000" y="3059640"/>
            <a:ext cx="9359280" cy="2580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3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 Mierez Suarez Matias. 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3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Espinoza Enrique Manuel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3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Favaron Juan Cruz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3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 Velázquez Yeny Elisa.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AR" sz="13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Vargas Portillo Jonatan </a:t>
            </a:r>
            <a:endParaRPr b="0" lang="es-A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60000" y="35928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Introducción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60000" y="3915000"/>
            <a:ext cx="9359280" cy="14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s-AR" sz="14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 Olist Dataset (Kaggle):https://www.kaggle.com/datasets/olistbr/brazilian-ecommerce/ </a:t>
            </a:r>
            <a:endParaRPr b="0" lang="es-A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360000" y="950040"/>
            <a:ext cx="9359280" cy="13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Este repositorio contiene el desarrollo completo de un </a:t>
            </a:r>
            <a:r>
              <a:rPr b="1" lang="es-AR" sz="1500" strike="noStrike" u="none">
                <a:solidFill>
                  <a:srgbClr val="ff0000"/>
                </a:solidFill>
                <a:effectLst/>
                <a:uFillTx/>
                <a:latin typeface="Noto Sans"/>
                <a:ea typeface="DejaVu Sans"/>
              </a:rPr>
              <a:t>Data Warehouse</a:t>
            </a:r>
            <a:r>
              <a:rPr b="1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 construido a partir del conjunto de datos público de</a:t>
            </a:r>
            <a:r>
              <a:rPr b="1" lang="es-AR" sz="1500" strike="noStrike" u="none">
                <a:solidFill>
                  <a:srgbClr val="ff0000"/>
                </a:solidFill>
                <a:effectLst/>
                <a:uFillTx/>
                <a:latin typeface="Noto Sans"/>
                <a:ea typeface="DejaVu Sans"/>
              </a:rPr>
              <a:t> comercio electrónico</a:t>
            </a:r>
            <a:r>
              <a:rPr b="1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 de Brasil publicado por</a:t>
            </a:r>
            <a:r>
              <a:rPr b="1" i="1" lang="es-AR" sz="1500" strike="noStrike" u="none">
                <a:solidFill>
                  <a:srgbClr val="ff0000"/>
                </a:solidFill>
                <a:effectLst/>
                <a:uFillTx/>
                <a:latin typeface="Noto Sans"/>
                <a:ea typeface="DejaVu Sans"/>
              </a:rPr>
              <a:t> Olist Store</a:t>
            </a:r>
            <a:r>
              <a:rPr b="1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 en</a:t>
            </a:r>
            <a:r>
              <a:rPr b="1" lang="es-AR" sz="1500" strike="noStrike" u="none">
                <a:solidFill>
                  <a:srgbClr val="ff0000"/>
                </a:solidFill>
                <a:effectLst/>
                <a:uFillTx/>
                <a:latin typeface="Noto Sans"/>
                <a:ea typeface="DejaVu Sans"/>
              </a:rPr>
              <a:t> Kaggle</a:t>
            </a:r>
            <a:r>
              <a:rPr b="1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.El proyecto adopta la </a:t>
            </a:r>
            <a:r>
              <a:rPr b="1" lang="es-AR" sz="1500" strike="noStrike" u="none">
                <a:solidFill>
                  <a:srgbClr val="ff0000"/>
                </a:solidFill>
                <a:effectLst/>
                <a:uFillTx/>
                <a:latin typeface="Noto Sans"/>
                <a:ea typeface="DejaVu Sans"/>
              </a:rPr>
              <a:t> arquitectura Medallón (Bronce → Plata → Oro)</a:t>
            </a:r>
            <a:r>
              <a:rPr b="1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 e implementa procesos </a:t>
            </a:r>
            <a:r>
              <a:rPr b="1" lang="es-AR" sz="1500" strike="noStrike" u="none">
                <a:solidFill>
                  <a:srgbClr val="ff0000"/>
                </a:solidFill>
                <a:effectLst/>
                <a:uFillTx/>
                <a:latin typeface="Noto Sans"/>
                <a:ea typeface="DejaVu Sans"/>
              </a:rPr>
              <a:t>ETL</a:t>
            </a:r>
            <a:r>
              <a:rPr b="1" lang="es-AR" sz="15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 para limpieza, normalización, modelado dimensional y análisis final.</a:t>
            </a:r>
            <a:endParaRPr b="0" lang="es-A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endParaRPr b="0" lang="es-A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80720" y="13104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Esquema De Capas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" descr=""/>
          <p:cNvPicPr/>
          <p:nvPr/>
        </p:nvPicPr>
        <p:blipFill>
          <a:blip r:embed="rId1"/>
          <a:stretch/>
        </p:blipFill>
        <p:spPr>
          <a:xfrm>
            <a:off x="0" y="759960"/>
            <a:ext cx="10080720" cy="482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360000" y="35928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Modelo Inicial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" name="" descr=""/>
          <p:cNvPicPr/>
          <p:nvPr/>
        </p:nvPicPr>
        <p:blipFill>
          <a:blip r:embed="rId1"/>
          <a:stretch/>
        </p:blipFill>
        <p:spPr>
          <a:xfrm>
            <a:off x="0" y="900000"/>
            <a:ext cx="10079280" cy="449892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540000" y="35928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Capa De Bronce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" descr=""/>
          <p:cNvPicPr/>
          <p:nvPr/>
        </p:nvPicPr>
        <p:blipFill>
          <a:blip r:embed="rId1"/>
          <a:stretch/>
        </p:blipFill>
        <p:spPr>
          <a:xfrm>
            <a:off x="1440000" y="900360"/>
            <a:ext cx="7559280" cy="449892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80000" y="180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Capa Plata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540000" y="900000"/>
            <a:ext cx="8999280" cy="449892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180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Diagrama De La Capa De Plata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180000" y="1080000"/>
            <a:ext cx="9539280" cy="431892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80000" y="35928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Capa De Oro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180000" y="1078920"/>
            <a:ext cx="9719280" cy="432000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360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Modelo Estrella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260000" y="1080360"/>
            <a:ext cx="7919280" cy="431892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540000" y="180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Preguntas Planteadas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60000" y="3915000"/>
            <a:ext cx="9359280" cy="14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360000" y="1065960"/>
            <a:ext cx="9359280" cy="110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>
            <a:off x="360000" y="1131120"/>
            <a:ext cx="9359280" cy="9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1. ¿Cómo fue la evolución de las ventas a través del tiempo?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40000" y="180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Análisis Para La Pregunta 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720000" y="900000"/>
            <a:ext cx="8819280" cy="449892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60000" y="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Análisis Para La Pregunta 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tretch/>
        </p:blipFill>
        <p:spPr>
          <a:xfrm>
            <a:off x="360000" y="720000"/>
            <a:ext cx="9179280" cy="467892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57" name=""/>
          <p:cNvSpPr/>
          <p:nvPr/>
        </p:nvSpPr>
        <p:spPr>
          <a:xfrm>
            <a:off x="6660000" y="4320000"/>
            <a:ext cx="179280" cy="899280"/>
          </a:xfrm>
          <a:prstGeom prst="rect">
            <a:avLst/>
          </a:prstGeom>
          <a:noFill/>
          <a:ln w="10800">
            <a:solidFill>
              <a:srgbClr val="1abc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trike="noStrike" u="none">
              <a:solidFill>
                <a:srgbClr val="2c3e50"/>
              </a:solidFill>
              <a:effectLst/>
              <a:uFillTx/>
              <a:latin typeface="Noto Sans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360000" y="283428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360000" y="3915000"/>
            <a:ext cx="9359280" cy="1484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" name="" descr=""/>
          <p:cNvPicPr/>
          <p:nvPr/>
        </p:nvPicPr>
        <p:blipFill>
          <a:blip r:embed="rId1"/>
          <a:stretch/>
        </p:blipFill>
        <p:spPr>
          <a:xfrm>
            <a:off x="360" y="814320"/>
            <a:ext cx="10078920" cy="2964960"/>
          </a:xfrm>
          <a:prstGeom prst="rect">
            <a:avLst/>
          </a:prstGeom>
          <a:noFill/>
          <a:ln w="10800">
            <a:noFill/>
          </a:ln>
        </p:spPr>
      </p:pic>
      <p:sp>
        <p:nvSpPr>
          <p:cNvPr id="61" name=""/>
          <p:cNvSpPr/>
          <p:nvPr/>
        </p:nvSpPr>
        <p:spPr>
          <a:xfrm>
            <a:off x="360" y="3420000"/>
            <a:ext cx="1798920" cy="359280"/>
          </a:xfrm>
          <a:prstGeom prst="rect">
            <a:avLst/>
          </a:prstGeom>
          <a:noFill/>
          <a:ln w="36000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wrap="none" lIns="102600" rIns="102600" tIns="57600" bIns="57600" anchor="ctr">
            <a:noAutofit/>
          </a:bodyPr>
          <a:p>
            <a:pPr algn="ctr">
              <a:lnSpc>
                <a:spcPct val="100000"/>
              </a:lnSpc>
            </a:pPr>
            <a:endParaRPr b="0" lang="es-AR" sz="1800" strike="noStrike" u="none">
              <a:solidFill>
                <a:srgbClr val="2c3e50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62" name=""/>
          <p:cNvSpPr/>
          <p:nvPr/>
        </p:nvSpPr>
        <p:spPr>
          <a:xfrm>
            <a:off x="360000" y="-126720"/>
            <a:ext cx="9359280" cy="9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 anchorCtr="1">
            <a:spAutoFit/>
          </a:bodyPr>
          <a:p>
            <a:pPr algn="ctr">
              <a:lnSpc>
                <a:spcPct val="100000"/>
              </a:lnSpc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  <a:ea typeface="DejaVu Sans"/>
              </a:rPr>
              <a:t>Análisis Para La Pregunta 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60000" y="180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Análisis Para La Pregunta 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" descr=""/>
          <p:cNvPicPr/>
          <p:nvPr/>
        </p:nvPicPr>
        <p:blipFill>
          <a:blip r:embed="rId1"/>
          <a:stretch/>
        </p:blipFill>
        <p:spPr>
          <a:xfrm>
            <a:off x="1260000" y="900000"/>
            <a:ext cx="7559280" cy="449892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60000" y="360360"/>
            <a:ext cx="9359280" cy="7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s-AR" sz="3200" strike="noStrike" u="none">
                <a:solidFill>
                  <a:srgbClr val="ffffff"/>
                </a:solidFill>
                <a:effectLst/>
                <a:uFillTx/>
                <a:latin typeface="Noto Sans"/>
              </a:rPr>
              <a:t>Análisis Para La Pregunta </a:t>
            </a:r>
            <a:endParaRPr b="0" lang="es-A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" name="" descr=""/>
          <p:cNvPicPr/>
          <p:nvPr/>
        </p:nvPicPr>
        <p:blipFill>
          <a:blip r:embed="rId1"/>
          <a:stretch/>
        </p:blipFill>
        <p:spPr>
          <a:xfrm>
            <a:off x="720000" y="1080000"/>
            <a:ext cx="8819280" cy="4499280"/>
          </a:xfrm>
          <a:prstGeom prst="rect">
            <a:avLst/>
          </a:prstGeom>
          <a:noFill/>
          <a:ln w="108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280" cy="7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Conclusiones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280" cy="377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00000"/>
              </a:lnSpc>
              <a:buNone/>
            </a:pPr>
            <a:r>
              <a: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Usando la información obtenida mediante el análisis de las ventas a través de los años, meses y días podemos notar que el aumento de ventas puede explicarse como un resultado de la baja inflación que se experimentó entre 2017-2018 en Brasil. Se alcanza un pico el 24-11-2017 que coincide con la fecha del Black Friday. A partir de Diciembre de 2017 y hasta Marzo de 2018 se puede ver, con altibajos, que hay consumo aceptable todavía. Esto podemos explicarlo por la situación estacional de fiestas y vacaciones. Sin embargo, a partir de Marzo de 2018 se empieza a observar una meseta en las ventas y una posterior caída. Un factor para esto, aunque no necesariamente el único, se debe al aumento de inflación que se pronuncia entre Mayo y Julio de 2018 (teniendo valores alto también en Septiembre y Octubre de ese mismo año). </a:t>
            </a:r>
            <a:r>
              <a:rPr b="1" i="1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lo tanto, una sugerencia es revisar las categorías y productos más vendidos dentro de esa fecha e informar que mantenga stock de esos productos. Esto es así porque, a pesar de la inflación y bajas ventas, la gente ha mostrado estar dispuesta a gastar en esos productos</a:t>
            </a:r>
            <a:r>
              <a: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11FB8D-A839-438D-B3A0-4C4E6E1CA5F2}" type="slidenum">
              <a:t>16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2700000" y="1440000"/>
            <a:ext cx="4679280" cy="1619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anchorCtr="1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es-A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GRACIAS POR SU ATENCIÓN</a:t>
            </a:r>
            <a:endParaRPr b="0" lang="es-A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B62F27-F639-4D58-8041-0E9BCA388C98}" type="slidenum">
              <a:t>17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2025-12-18T18:35:46Z</dcterms:created>
  <dc:creator/>
  <dc:description>This work is licensed under a Creative Commons 0 License.
It makes use of the works of Jun NOGATA.</dc:description>
  <dc:language>es-AR</dc:language>
  <cp:lastModifiedBy/>
  <dcterms:modified xsi:type="dcterms:W3CDTF">2025-12-19T11:06:17Z</dcterms:modified>
  <cp:revision>10</cp:revision>
  <dc:subject/>
  <dc:title>Midnightblue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